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0"/>
            <a:ext cx="54864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 •  Oracle SQL  •  HATEOAS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32004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108960"/>
            <a:ext cx="1239012" cy="201168"/>
          </a:xfrm>
          <a:prstGeom prst="roundRect">
            <a:avLst>
              <a:gd name="adj" fmla="val 22727"/>
            </a:avLst>
          </a:prstGeom>
          <a:solidFill>
            <a:srgbClr val="38BDF8">
              <a:alpha val="20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08960"/>
            <a:ext cx="12390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Entidades JPA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286000" y="3108960"/>
            <a:ext cx="1783080" cy="201168"/>
          </a:xfrm>
          <a:prstGeom prst="roundRect">
            <a:avLst>
              <a:gd name="adj" fmla="val 22727"/>
            </a:avLst>
          </a:prstGeom>
          <a:solidFill>
            <a:srgbClr val="34D399">
              <a:alpha val="20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31089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</a:rPr>
              <a:t>Base de Datos Oracle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1705356" cy="201168"/>
          </a:xfrm>
          <a:prstGeom prst="roundRect">
            <a:avLst>
              <a:gd name="adj" fmla="val 22727"/>
            </a:avLst>
          </a:prstGeom>
          <a:solidFill>
            <a:srgbClr val="FB923C">
              <a:alpha val="20000"/>
            </a:srgbClr>
          </a:solidFill>
          <a:ln w="6350">
            <a:solidFill>
              <a:srgbClr val="FB9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29000"/>
            <a:ext cx="17053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923C"/>
                </a:solidFill>
              </a:rPr>
              <a:t>Seguridad BasicAuth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86000" y="3429000"/>
            <a:ext cx="1549908" cy="201168"/>
          </a:xfrm>
          <a:prstGeom prst="roundRect">
            <a:avLst>
              <a:gd name="adj" fmla="val 22727"/>
            </a:avLst>
          </a:prstGeom>
          <a:solidFill>
            <a:srgbClr val="818CF8">
              <a:alpha val="20000"/>
            </a:srgbClr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3429000"/>
            <a:ext cx="15499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18CF8"/>
                </a:solidFill>
              </a:rPr>
              <a:t>CRUD + Paginación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63440" y="4572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3440" y="822960"/>
            <a:ext cx="42062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Arquitectura General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Entidades y Modelo de Datos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Base de Datos Oracle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Repositorios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DTOs (Request / Response)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Servicio — Lógica de Negocio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Endpoints de la API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Seguridad — Basic Auth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Manejo de Excepciones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HATEOAS y Links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General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capas del proyecto Spring Boot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8229600" cy="566928"/>
          </a:xfrm>
          <a:prstGeom prst="rect">
            <a:avLst/>
          </a:prstGeom>
          <a:solidFill>
            <a:srgbClr val="818CF8">
              <a:alpha val="18000"/>
            </a:srgbClr>
          </a:solidFill>
          <a:ln w="1016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 (HTTP / REST)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26280" y="1618488"/>
            <a:ext cx="0" cy="283464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8229600" cy="566928"/>
          </a:xfrm>
          <a:prstGeom prst="rect">
            <a:avLst/>
          </a:prstGeom>
          <a:solidFill>
            <a:srgbClr val="38BDF8">
              <a:alpha val="18000"/>
            </a:srgbClr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830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 —  EstablecimientoController  |  AdminController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2350008"/>
            <a:ext cx="0" cy="283464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514600"/>
            <a:ext cx="8229600" cy="566928"/>
          </a:xfrm>
          <a:prstGeom prst="rect">
            <a:avLst/>
          </a:prstGeom>
          <a:solidFill>
            <a:srgbClr val="34D399">
              <a:alpha val="18000"/>
            </a:srgbClr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146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 —  EstablecimientoService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26280" y="3081528"/>
            <a:ext cx="0" cy="283464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46120"/>
            <a:ext cx="8229600" cy="566928"/>
          </a:xfrm>
          <a:prstGeom prst="rect">
            <a:avLst/>
          </a:prstGeom>
          <a:solidFill>
            <a:srgbClr val="FB923C">
              <a:alpha val="18000"/>
            </a:srgbClr>
          </a:solidFill>
          <a:ln w="10160">
            <a:solidFill>
              <a:srgbClr val="FB9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461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 —  EstablecimientoRepository  |  UbigeoRepository  |  UsuarioRepository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26280" y="3813048"/>
            <a:ext cx="0" cy="283464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977640"/>
            <a:ext cx="8229600" cy="566928"/>
          </a:xfrm>
          <a:prstGeom prst="rect">
            <a:avLst/>
          </a:prstGeom>
          <a:solidFill>
            <a:srgbClr val="F87171">
              <a:alpha val="18000"/>
            </a:srgbClr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77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 —  Oracle XE  (tablas, secuencia, trigger, stored procedure)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1783080"/>
            <a:ext cx="1920240" cy="566928"/>
          </a:xfrm>
          <a:prstGeom prst="rect">
            <a:avLst/>
          </a:prstGeom>
          <a:solidFill>
            <a:srgbClr val="FB923C">
              <a:alpha val="12000"/>
            </a:srgbClr>
          </a:solidFill>
          <a:ln w="7620">
            <a:solidFill>
              <a:srgbClr val="FB9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7830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BasicAuthFilter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/api/admin/*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JPA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que mapean las tablas de Oracle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834640" cy="3749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Establecimiento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83464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54480" y="1417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0" y="14173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/ Sequence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48640" y="17190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54480" y="17190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0" y="171907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ESCUELA|MEDICO|EVAL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48640" y="202082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54480" y="202082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0" y="202082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chars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48640" y="23225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54480" y="232257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2322576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48640" y="26243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direccion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54480" y="26243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2926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ubigeo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54480" y="2926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Ubigeo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86000" y="29260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@ManyToOne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48640" y="32278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54480" y="322783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86000" y="322783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ACTIVO/INACTIVO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35295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554480" y="352958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86000" y="352958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48640" y="38313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fechaRegistro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54480" y="383133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286000" y="3831336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@CreationTimestamp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48640" y="41330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fechaActualizacion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554480" y="41330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286000" y="413308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@UpdateTimestamp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474720" y="1005840"/>
            <a:ext cx="2377440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0" y="1005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Ubigeo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474720" y="1325880"/>
            <a:ext cx="237744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14173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80560" y="14173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20640" y="14173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(6 chars)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566160" y="16916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departamento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480560" y="16916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20640" y="16916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566160" y="19659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provincia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480560" y="1965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20640" y="1965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566160" y="22402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distrito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480560" y="22402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20640" y="22402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566160" y="25146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nombreCompleto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480560" y="25146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120640" y="25146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col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474720" y="3200400"/>
            <a:ext cx="237744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0" y="3200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474720" y="3520440"/>
            <a:ext cx="237744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566160" y="361188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434840" y="3611880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029200" y="361188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(50 chars)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3566160" y="3867912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434840" y="386791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029200" y="386791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3566160" y="4123944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434840" y="4123944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029200" y="412394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USER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3566160" y="4379976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activo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434840" y="4379976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029200" y="437997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activo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035040" y="1005840"/>
            <a:ext cx="2743200" cy="12801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3504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TipoEstablecimiento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035040" y="1325880"/>
            <a:ext cx="274320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35040" y="13350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«enum»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172200" y="1581912"/>
            <a:ext cx="73152" cy="7315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09360" y="15361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ESCUELA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172200" y="1801368"/>
            <a:ext cx="73152" cy="7315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09360" y="17556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CENTRO_MEDICO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172200" y="2020824"/>
            <a:ext cx="73152" cy="7315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19751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CENTRO_EVALUACION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6035040" y="2468880"/>
            <a:ext cx="2743200" cy="2286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035040" y="24688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Anotaciones Clave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035040" y="2761488"/>
            <a:ext cx="274320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126480" y="28529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@NamedStoredProcedureQuery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7562088" y="28529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sp_buscar_por_ubicacion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126480" y="31546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@GeneratedValue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7562088" y="315468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Oracle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126480" y="345643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@CreationTimestamp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7562088" y="34564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fecha_registro auto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6126480" y="375818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@UpdateTimestamp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7562088" y="375818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fecha_actualizacion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6126480" y="405993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@ManyToOne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7562088" y="405993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Ubigeo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6126480" y="43616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@Enumerated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7562088" y="436168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en BD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Oracle XE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Tablas, secuencia, índices, trigger y stored procedure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384048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UBIGEO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384048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898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codigo_ubigeo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920240" y="13898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VARCHAR2(6)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017520" y="138988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48640" y="16459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departamento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920240" y="164592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VARCHAR2(100)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017520" y="164592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48640" y="190195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provincia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920240" y="190195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VARCHAR2(100)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017520" y="190195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48640" y="215798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distrito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20240" y="215798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VARCHAR2(100)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017520" y="215798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48640" y="241401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nombre_completo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920240" y="241401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VARCHAR2(400)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017520" y="241401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GENERATED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2971800"/>
            <a:ext cx="3840480" cy="1965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97180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ESTABLECIMIENTO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73552"/>
            <a:ext cx="384048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35584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920240" y="33558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017520" y="33558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/ seq_establecimiento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48640" y="35524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920240" y="355244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VARCHAR2(20)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017520" y="35524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48640" y="37490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ruc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920240" y="37490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VARCHAR2(11)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017520" y="3749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48640" y="394563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920240" y="39456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VARCHAR2(200)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017520" y="39456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48640" y="41422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direccion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920240" y="41422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VARCHAR2(300)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017520" y="414223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48640" y="433882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codigo_ubigeo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920240" y="433882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VARCHAR2(6)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017520" y="433882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ubigeo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48640" y="453542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920240" y="453542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VARCHAR2(20)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017520" y="453542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'ACTIVO'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48640" y="47320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activo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920240" y="47320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NUMBER(1)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017520" y="47320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1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480560" y="1005840"/>
            <a:ext cx="2468880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80560" y="1005840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480560" y="1307592"/>
            <a:ext cx="246888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0" y="13898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577840" y="13898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VARCHAR2(50)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492240" y="13898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572000" y="16459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577840" y="164592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VARCHAR2(100)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492240" y="164592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572000" y="19019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577840" y="190195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VARCHAR2(20)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492240" y="190195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USER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572000" y="215798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activo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577840" y="215798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NUMBER(1)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492240" y="215798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1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480560" y="2560320"/>
            <a:ext cx="4297680" cy="2377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80560" y="2560320"/>
            <a:ext cx="4297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Oracle Adicionales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480560" y="2862072"/>
            <a:ext cx="429768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72000" y="2953512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34D399">
              <a:alpha val="20000"/>
            </a:srgbClr>
          </a:solidFill>
          <a:ln w="5080">
            <a:solidFill>
              <a:srgbClr val="34D39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0" y="29535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</a:rPr>
              <a:t>SEQUENCE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394960" y="29535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seq_establecimiento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766560" y="295351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PKs en vez de AUTOINCREMENT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572000" y="3236976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FB923C">
              <a:alpha val="20000"/>
            </a:srgbClr>
          </a:solidFill>
          <a:ln w="5080">
            <a:solidFill>
              <a:srgbClr val="FB923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72000" y="323697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B923C"/>
                </a:solidFill>
              </a:rPr>
              <a:t>TRIGGER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394960" y="323697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trg_establecimiento_update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766560" y="323697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 fecha_actualizacion en UPDATE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572000" y="3520440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F87171">
              <a:alpha val="20000"/>
            </a:srgbClr>
          </a:solidFill>
          <a:ln w="5080">
            <a:solidFill>
              <a:srgbClr val="F8717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72000" y="35204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7171"/>
                </a:solidFill>
              </a:rPr>
              <a:t>PROCEDURE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394960" y="35204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sp_buscar_por_ubicacion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6766560" y="352044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por ubigeo con SYS_REFCURSOR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4572000" y="3803904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38BDF8">
              <a:alpha val="20000"/>
            </a:srgbClr>
          </a:solidFill>
          <a:ln w="5080">
            <a:solidFill>
              <a:srgbClr val="38BDF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572000" y="380390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8BDF8"/>
                </a:solidFill>
              </a:rPr>
              <a:t>INDEX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5394960" y="380390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idx_ubigeo_nombre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6766560" y="380390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rápida en nombre_completo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572000" y="4087368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38BDF8">
              <a:alpha val="20000"/>
            </a:srgbClr>
          </a:solidFill>
          <a:ln w="5080">
            <a:solidFill>
              <a:srgbClr val="38BDF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572000" y="40873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8BDF8"/>
                </a:solidFill>
              </a:rPr>
              <a:t>INDEX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5394960" y="40873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idx_establecimiento_tipo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6766560" y="408736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rápido por tipo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4572000" y="4370832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818CF8">
              <a:alpha val="20000"/>
            </a:srgbClr>
          </a:solidFill>
          <a:ln w="5080">
            <a:solidFill>
              <a:srgbClr val="818CF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572000" y="43708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</a:rPr>
              <a:t>CONSTRAINT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5394960" y="43708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chk_tipo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6766560" y="437083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ESCUELA|CENTRO_MEDICO|CENTRO_EVAL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4572000" y="4654296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94A3B8">
              <a:alpha val="20000"/>
            </a:srgbClr>
          </a:solidFill>
          <a:ln w="5080">
            <a:solidFill>
              <a:srgbClr val="94A3B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572000" y="46542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VIRTUAL COL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5394960" y="46542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nombre_completo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6766560" y="465429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Generada: depto + prov + distrito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 JPA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que extienden JpaRepository para acceso a datos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EstablecimientoRepository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12080" y="1115568"/>
            <a:ext cx="3648456" cy="201168"/>
          </a:xfrm>
          <a:prstGeom prst="roundRect">
            <a:avLst>
              <a:gd name="adj" fmla="val 22727"/>
            </a:avLst>
          </a:prstGeom>
          <a:solidFill>
            <a:srgbClr val="94A3B8">
              <a:alpha val="20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115568"/>
            <a:ext cx="3648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extends JpaRepository&lt;Establecimiento, Long&gt;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463040"/>
            <a:ext cx="822960" cy="182880"/>
          </a:xfrm>
          <a:prstGeom prst="roundRect">
            <a:avLst>
              <a:gd name="adj" fmla="val 20000"/>
            </a:avLst>
          </a:prstGeom>
          <a:solidFill>
            <a:srgbClr val="38BDF8">
              <a:alpha val="18000"/>
            </a:srgbClr>
          </a:solidFill>
          <a:ln w="508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63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8BDF8"/>
                </a:solidFill>
              </a:rPr>
              <a:t>@Query JPQL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417320" y="1444752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findByTipoAndActivoTrue(tipo, pageable)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0" y="1444752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Page&lt;Establecimiento&gt;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80760" y="144475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activos por TipoEstablecimiento con paginación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1901952"/>
            <a:ext cx="822960" cy="182880"/>
          </a:xfrm>
          <a:prstGeom prst="roundRect">
            <a:avLst>
              <a:gd name="adj" fmla="val 20000"/>
            </a:avLst>
          </a:prstGeom>
          <a:solidFill>
            <a:srgbClr val="38BDF8">
              <a:alpha val="18000"/>
            </a:srgbClr>
          </a:solidFill>
          <a:ln w="508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8BDF8"/>
                </a:solidFill>
              </a:rPr>
              <a:t>@Query JPQL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417320" y="1883664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findAllActivos(pageable)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0" y="1883664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Page&lt;Establecimiento&gt;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80760" y="1883664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todos los activos paginados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2340864"/>
            <a:ext cx="822960" cy="182880"/>
          </a:xfrm>
          <a:prstGeom prst="roundRect">
            <a:avLst>
              <a:gd name="adj" fmla="val 20000"/>
            </a:avLst>
          </a:prstGeom>
          <a:solidFill>
            <a:srgbClr val="F87171">
              <a:alpha val="18000"/>
            </a:srgbClr>
          </a:solidFill>
          <a:ln w="508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3408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7171"/>
                </a:solidFill>
              </a:rPr>
              <a:t>@Procedure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417320" y="2322576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buscarPorUbicacion(p_nombre_ubicacion)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89120" y="2322576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List&lt;Establecimiento&gt;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80760" y="2322576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a sp_buscar_por_ubicacion en Oracle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2779776"/>
            <a:ext cx="822960" cy="182880"/>
          </a:xfrm>
          <a:prstGeom prst="roundRect">
            <a:avLst>
              <a:gd name="adj" fmla="val 20000"/>
            </a:avLst>
          </a:prstGeom>
          <a:solidFill>
            <a:srgbClr val="34D399">
              <a:alpha val="18000"/>
            </a:srgbClr>
          </a:solidFill>
          <a:ln w="508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7797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</a:rPr>
              <a:t>JpaRepository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417320" y="2761488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save(entity)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389120" y="2761488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Establecimiento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80760" y="2761488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o actualizar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" y="3218688"/>
            <a:ext cx="822960" cy="182880"/>
          </a:xfrm>
          <a:prstGeom prst="roundRect">
            <a:avLst>
              <a:gd name="adj" fmla="val 20000"/>
            </a:avLst>
          </a:prstGeom>
          <a:solidFill>
            <a:srgbClr val="34D399">
              <a:alpha val="18000"/>
            </a:srgbClr>
          </a:solidFill>
          <a:ln w="508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2186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</a:rPr>
              <a:t>JpaRepository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417320" y="3200400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findById(id)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389120" y="3200400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Optional&lt;Establecimiento&gt;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80760" y="320040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PK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48640" y="3657600"/>
            <a:ext cx="822960" cy="182880"/>
          </a:xfrm>
          <a:prstGeom prst="roundRect">
            <a:avLst>
              <a:gd name="adj" fmla="val 20000"/>
            </a:avLst>
          </a:prstGeom>
          <a:solidFill>
            <a:srgbClr val="FB923C">
              <a:alpha val="18000"/>
            </a:srgbClr>
          </a:solidFill>
          <a:ln w="5080">
            <a:solidFill>
              <a:srgbClr val="FB92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657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B923C"/>
                </a:solidFill>
              </a:rPr>
              <a:t>JpaRepository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417320" y="3639312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findAll()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389120" y="3639312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List&lt;Establecimiento&gt;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80760" y="363931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en paginación en memoria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7200" y="4343400"/>
            <a:ext cx="365760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37083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UbigeoRepository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460857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JpaRepository&lt;Ubigeo, String&gt;  —  findById(codigo) para buscar ubigeo por código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97680" y="4343400"/>
            <a:ext cx="438912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0" y="437083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UsuarioRepository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389120" y="460857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findByUsernameAndActivoTrue(username)  →  Optional&lt;Usuario&gt;  —  Usado por BasicAuthFilter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 — Data Transfer Objects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Separan la API pública del modelo interno de la base de datos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3291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EstablecimientoRequestDTO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0" y="1389888"/>
            <a:ext cx="1860804" cy="201168"/>
          </a:xfrm>
          <a:prstGeom prst="roundRect">
            <a:avLst>
              <a:gd name="adj" fmla="val 22727"/>
            </a:avLst>
          </a:prstGeom>
          <a:solidFill>
            <a:srgbClr val="38BDF8">
              <a:alpha val="20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389888"/>
            <a:ext cx="18608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ENTRADA  (POST / PUT)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402336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099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63040" y="170992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21408" y="170992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@NotBlank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189280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/ CENTRO_MEDICO / CENTRO_EVALUACION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48640" y="211226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63040" y="211226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21408" y="21122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@NotBlank @Size(11)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229514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 de 11 dígitos exactos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48640" y="2514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63040" y="251460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21408" y="25146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@NotBlank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26974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establecimiento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48640" y="291693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direccion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63040" y="291693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21408" y="29169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(opcional)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309981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física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48640" y="33192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codigoUbigeo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63040" y="33192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21408" y="33192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@NotBlank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" y="350215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a tabla ubigeo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48640" y="3721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63040" y="372160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121408" y="37216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(opcional)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8640" y="39044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/ INACTIVO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663440" y="1005840"/>
            <a:ext cx="4023360" cy="2834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00584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EstablecimientoResponseDTO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0" y="1389888"/>
            <a:ext cx="2016252" cy="201168"/>
          </a:xfrm>
          <a:prstGeom prst="roundRect">
            <a:avLst>
              <a:gd name="adj" fmla="val 22727"/>
            </a:avLst>
          </a:prstGeom>
          <a:solidFill>
            <a:srgbClr val="34D399">
              <a:alpha val="20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1389888"/>
            <a:ext cx="2016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</a:rPr>
              <a:t>SALIDA  (GET responses)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675120" y="1389888"/>
            <a:ext cx="2327148" cy="201168"/>
          </a:xfrm>
          <a:prstGeom prst="roundRect">
            <a:avLst>
              <a:gd name="adj" fmla="val 22727"/>
            </a:avLst>
          </a:prstGeom>
          <a:solidFill>
            <a:srgbClr val="818CF8">
              <a:alpha val="20000"/>
            </a:srgbClr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1389888"/>
            <a:ext cx="23271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18CF8"/>
                </a:solidFill>
              </a:rPr>
              <a:t>extends RepresentationModel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663440" y="1627632"/>
            <a:ext cx="402336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17099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26480" y="17099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54880" y="1965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26480" y="1965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4880" y="22219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ruc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26480" y="22219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54880" y="247802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26480" y="247802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54880" y="273405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direccion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26480" y="2734056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54880" y="29900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departamento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26480" y="29900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54880" y="32461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provincia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126480" y="32461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754880" y="35021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distrito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126480" y="35021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754880" y="375818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126480" y="37581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754880" y="3886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_links (HATEOAS) →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" y="4453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RucValidationResponse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2926080" y="44622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valido: boolean  |  mensaje: String  |  @JsonIgnoreProperties(ignoreUnknown = true)  —  Respuesta de API externa de validación RUC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EstablecimientoService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 — @Service @Transactional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8229600" cy="46634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87552"/>
            <a:ext cx="64008" cy="46634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05840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listar(tipo, pageable)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91840" y="10058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Page&lt;ResponseDTO&gt;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166360" y="1024128"/>
            <a:ext cx="2145182" cy="182880"/>
          </a:xfrm>
          <a:prstGeom prst="roundRect">
            <a:avLst>
              <a:gd name="adj" fmla="val 20000"/>
            </a:avLst>
          </a:prstGeom>
          <a:solidFill>
            <a:srgbClr val="38BDF8">
              <a:alpha val="15000"/>
            </a:srgbClr>
          </a:solidFill>
          <a:ln w="508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66360" y="1024128"/>
            <a:ext cx="21451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BDF8"/>
                </a:solidFill>
              </a:rPr>
              <a:t>@Transactional(readOnly=true)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94360" y="123444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por TipoEstablecimiento o lista todos activos con paginación JPA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1504188"/>
            <a:ext cx="8229600" cy="46634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04188"/>
            <a:ext cx="64008" cy="46634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522476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obtenerPorId(id)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91840" y="152247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ResponseDTO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66360" y="1540764"/>
            <a:ext cx="2145182" cy="182880"/>
          </a:xfrm>
          <a:prstGeom prst="roundRect">
            <a:avLst>
              <a:gd name="adj" fmla="val 20000"/>
            </a:avLst>
          </a:prstGeom>
          <a:solidFill>
            <a:srgbClr val="38BDF8">
              <a:alpha val="15000"/>
            </a:srgbClr>
          </a:solidFill>
          <a:ln w="508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1540764"/>
            <a:ext cx="21451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BDF8"/>
                </a:solidFill>
              </a:rPr>
              <a:t>@Transactional(readOnly=true)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94360" y="1751076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ID y valida que esté activo (filter + orElseThrow)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2020824"/>
            <a:ext cx="8229600" cy="46634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020824"/>
            <a:ext cx="64008" cy="46634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039112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crear(request)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91840" y="203911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ResponseDTO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66360" y="2057400"/>
            <a:ext cx="1130198" cy="182880"/>
          </a:xfrm>
          <a:prstGeom prst="roundRect">
            <a:avLst>
              <a:gd name="adj" fmla="val 20000"/>
            </a:avLst>
          </a:prstGeom>
          <a:solidFill>
            <a:srgbClr val="34D399">
              <a:alpha val="15000"/>
            </a:srgbClr>
          </a:solidFill>
          <a:ln w="508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2057400"/>
            <a:ext cx="11301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@Transactional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94360" y="2267712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DTO → Entidad, setActivo=true, guarda y retorna DTO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2537460"/>
            <a:ext cx="8229600" cy="46634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537460"/>
            <a:ext cx="64008" cy="46634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2555748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actualizar(id, request)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91840" y="255574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ResponseDTO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166360" y="2574036"/>
            <a:ext cx="1130198" cy="182880"/>
          </a:xfrm>
          <a:prstGeom prst="roundRect">
            <a:avLst>
              <a:gd name="adj" fmla="val 20000"/>
            </a:avLst>
          </a:prstGeom>
          <a:solidFill>
            <a:srgbClr val="34D399">
              <a:alpha val="15000"/>
            </a:srgbClr>
          </a:solidFill>
          <a:ln w="508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2574036"/>
            <a:ext cx="11301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@Transactional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94360" y="2784348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 todos los campos; reasigna Ubigeo si cambió el código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3054096"/>
            <a:ext cx="8229600" cy="46634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054096"/>
            <a:ext cx="64008" cy="46634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3072384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actualizarParcial(id, updates)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91840" y="307238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ResponseDTO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166360" y="3090672"/>
            <a:ext cx="1130198" cy="182880"/>
          </a:xfrm>
          <a:prstGeom prst="roundRect">
            <a:avLst>
              <a:gd name="adj" fmla="val 20000"/>
            </a:avLst>
          </a:prstGeom>
          <a:solidFill>
            <a:srgbClr val="FB923C">
              <a:alpha val="15000"/>
            </a:srgbClr>
          </a:solidFill>
          <a:ln w="5080">
            <a:solidFill>
              <a:srgbClr val="FB92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3090672"/>
            <a:ext cx="11301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B923C"/>
                </a:solidFill>
              </a:rPr>
              <a:t>@Transactional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94360" y="3300984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PATCH: switch/case por key del Map&lt;String,Object&gt;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7200" y="3570732"/>
            <a:ext cx="8229600" cy="46634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3570732"/>
            <a:ext cx="64008" cy="46634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3589020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eliminarLogico(id)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291840" y="35890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void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166360" y="3607308"/>
            <a:ext cx="1130198" cy="182880"/>
          </a:xfrm>
          <a:prstGeom prst="roundRect">
            <a:avLst>
              <a:gd name="adj" fmla="val 20000"/>
            </a:avLst>
          </a:prstGeom>
          <a:solidFill>
            <a:srgbClr val="F87171">
              <a:alpha val="15000"/>
            </a:srgbClr>
          </a:solidFill>
          <a:ln w="5080">
            <a:solidFill>
              <a:srgbClr val="F8717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66360" y="3607308"/>
            <a:ext cx="11301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7171"/>
                </a:solidFill>
              </a:rPr>
              <a:t>@Transactional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94360" y="381762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a marcarComoEliminado() → activo=false (soft delete)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57200" y="4087368"/>
            <a:ext cx="8229600" cy="46634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4087368"/>
            <a:ext cx="64008" cy="46634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" y="4105656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buscarPorUbicacion(nombre)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291840" y="410565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List&lt;ResponseDTO&gt;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166360" y="4123944"/>
            <a:ext cx="2145182" cy="182880"/>
          </a:xfrm>
          <a:prstGeom prst="roundRect">
            <a:avLst>
              <a:gd name="adj" fmla="val 20000"/>
            </a:avLst>
          </a:prstGeom>
          <a:solidFill>
            <a:srgbClr val="818CF8">
              <a:alpha val="15000"/>
            </a:srgbClr>
          </a:solidFill>
          <a:ln w="5080">
            <a:solidFill>
              <a:srgbClr val="818C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66360" y="4123944"/>
            <a:ext cx="21451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18CF8"/>
                </a:solidFill>
              </a:rPr>
              <a:t>@Transactional(readOnly=true)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94360" y="4334256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 en @Procedure sp_buscar_por_ubicacion de Oracle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7200" y="4604004"/>
            <a:ext cx="8229600" cy="46634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" y="4604004"/>
            <a:ext cx="64008" cy="4663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4360" y="4622292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listarEnMemoria(page,size,sort...)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291840" y="46222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Page&lt;ResponseDTO&gt;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166360" y="4640580"/>
            <a:ext cx="2145182" cy="182880"/>
          </a:xfrm>
          <a:prstGeom prst="roundRect">
            <a:avLst>
              <a:gd name="adj" fmla="val 20000"/>
            </a:avLst>
          </a:prstGeom>
          <a:solidFill>
            <a:srgbClr val="94A3B8">
              <a:alpha val="15000"/>
            </a:srgbClr>
          </a:solidFill>
          <a:ln w="5080">
            <a:solidFill>
              <a:srgbClr val="94A3B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66360" y="4640580"/>
            <a:ext cx="21451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@Transactional(readOnly=true)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94360" y="4850892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findAll() → sort manual → subList → PageImpl (paginación en memoria)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de la API REST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URL: /api/establecimientos  |  HATEOAS habilitado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8229600" cy="4297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87552"/>
            <a:ext cx="685800" cy="429768"/>
          </a:xfrm>
          <a:prstGeom prst="rect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87552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07008" y="101498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/api/establecimientos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07008" y="120700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establecimientos paginados (tipo, page, size, sortField, sortDir)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458468"/>
            <a:ext cx="8229600" cy="4297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458468"/>
            <a:ext cx="685800" cy="429768"/>
          </a:xfrm>
          <a:prstGeom prst="rect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458468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07008" y="148590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/api/establecimientos/{id}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07008" y="167792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establecimiento por ID con links HATEOAS (self, todos, mismo-tipo)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1929384"/>
            <a:ext cx="8229600" cy="4297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929384"/>
            <a:ext cx="685800" cy="429768"/>
          </a:xfrm>
          <a:prstGeom prst="rect">
            <a:avLst/>
          </a:prstGeom>
          <a:solidFill>
            <a:srgbClr val="FB923C">
              <a:alpha val="25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929384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07008" y="195681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/api/establecimientos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07008" y="21488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nuevo establecimiento — Body: EstablecimientoRequestDTO — 201 Created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400300"/>
            <a:ext cx="8229600" cy="4297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400300"/>
            <a:ext cx="685800" cy="429768"/>
          </a:xfrm>
          <a:prstGeom prst="rect">
            <a:avLst/>
          </a:prstGeom>
          <a:solidFill>
            <a:srgbClr val="818CF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400300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07008" y="242773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/api/establecimientos/{id}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07008" y="261975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establecimiento completo — @Valid @RequestBody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871216"/>
            <a:ext cx="8229600" cy="4297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871216"/>
            <a:ext cx="685800" cy="429768"/>
          </a:xfrm>
          <a:prstGeom prst="rect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871216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07008" y="289864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/api/establecimientos/{id}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207008" y="309067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parcial — Body: Map&lt;String,Object&gt; con campos a cambiar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3342132"/>
            <a:ext cx="8229600" cy="4297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342132"/>
            <a:ext cx="685800" cy="429768"/>
          </a:xfrm>
          <a:prstGeom prst="rect">
            <a:avLst/>
          </a:prstGeom>
          <a:solidFill>
            <a:srgbClr val="F87171">
              <a:alpha val="25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342132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207008" y="336956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/api/establecimientos/{id}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07008" y="35615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 lógico (activo=false) — 204 No Content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3813048"/>
            <a:ext cx="8229600" cy="4297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813048"/>
            <a:ext cx="685800" cy="429768"/>
          </a:xfrm>
          <a:prstGeom prst="rect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813048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207008" y="384048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/api/establecimientos/busqueda-rapida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207008" y="403250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por ubicación vía stored procedure Oracle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7200" y="4283964"/>
            <a:ext cx="8229600" cy="4297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283964"/>
            <a:ext cx="685800" cy="429768"/>
          </a:xfrm>
          <a:prstGeom prst="rect">
            <a:avLst/>
          </a:prstGeom>
          <a:solidFill>
            <a:srgbClr val="94A3B8">
              <a:alpha val="25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283964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207008" y="431139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/api/establecimientos/en-memoria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207008" y="45034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Paginación manual en memoria (findAll + sort + subList)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" y="4754880"/>
            <a:ext cx="8229600" cy="4297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4754880"/>
            <a:ext cx="685800" cy="429768"/>
          </a:xfrm>
          <a:prstGeom prst="rect">
            <a:avLst/>
          </a:prstGeom>
          <a:solidFill>
            <a:srgbClr val="FB923C">
              <a:alpha val="25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754880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207008" y="478231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/api/admin/dashboard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207008" y="497433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 — 🔒 Requiere Basic Auth (solo /api/admin/*)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Basic Authentication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SecurityConfig + BasicAuthFilter protegen /api/admin/*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1572768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1572768" cy="256032"/>
          </a:xfrm>
          <a:prstGeom prst="rect">
            <a:avLst/>
          </a:prstGeom>
          <a:solidFill>
            <a:srgbClr val="818CF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1344168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header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Basic &lt;base64&gt;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47088" y="2103120"/>
            <a:ext cx="146304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3392" y="1051560"/>
            <a:ext cx="1572768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3392" y="1051560"/>
            <a:ext cx="1572768" cy="256032"/>
          </a:xfrm>
          <a:prstGeom prst="rect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10515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BasicAuthFilter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066544" y="1344168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extiende OncePerRequestFilter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 Base64 → user:pass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566160" y="2103120"/>
            <a:ext cx="146304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12464" y="1051560"/>
            <a:ext cx="1572768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12464" y="1051560"/>
            <a:ext cx="1572768" cy="256032"/>
          </a:xfrm>
          <a:prstGeom prst="rect">
            <a:avLst/>
          </a:prstGeom>
          <a:solidFill>
            <a:srgbClr val="FB923C">
              <a:alpha val="25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10515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UsuarioRepository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785616" y="1344168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findByUsernameAndActivoTrue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Optional&lt;Usuario&gt;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285232" y="2103120"/>
            <a:ext cx="146304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31536" y="1051560"/>
            <a:ext cx="1572768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31536" y="1051560"/>
            <a:ext cx="1572768" cy="256032"/>
          </a:xfrm>
          <a:prstGeom prst="rect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31536" y="10515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BCryptPasswordEncoder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504688" y="1344168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matches(rawPass, hashDB)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true / false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004304" y="2103120"/>
            <a:ext cx="146304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0608" y="1051560"/>
            <a:ext cx="1572768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50608" y="1051560"/>
            <a:ext cx="1572768" cy="256032"/>
          </a:xfrm>
          <a:prstGeom prst="rect">
            <a:avLst/>
          </a:prstGeom>
          <a:solidFill>
            <a:srgbClr val="F87171">
              <a:alpha val="25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0608" y="10515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223760" y="1344168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→ continúa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Unauthorized → rechaza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2697480"/>
            <a:ext cx="4206240" cy="21945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7249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SecurityConfig.java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017520"/>
            <a:ext cx="420624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090672"/>
            <a:ext cx="3931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@Bean  BCryptPasswordEncoder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Encripta contraseñas con BCrypt
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@Bean  FilterRegistrationBean&lt;BasicAuthFilter&gt;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Aplica el filtro SOLO a /api/admin/*
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Order = 1 (primera prioridad)
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shouldNotFilter() excluye /api/*
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2697480"/>
            <a:ext cx="3840480" cy="21945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27249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BasicAuthFilter.java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46320" y="3017520"/>
            <a:ext cx="384048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37760" y="3127248"/>
            <a:ext cx="73152" cy="73152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307238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49240" y="30723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header Authorization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937760" y="3429000"/>
            <a:ext cx="73152" cy="73152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337413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49240" y="33741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que empiece con 'Basic '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37760" y="3730752"/>
            <a:ext cx="73152" cy="73152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74920" y="36758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49240" y="36758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 Base64 → user:pass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937760" y="4032504"/>
            <a:ext cx="73152" cy="73152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74920" y="397764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49240" y="39776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usuario activo en BD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937760" y="4334256"/>
            <a:ext cx="73152" cy="73152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74920" y="4279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349240" y="42793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con BCrypt.matches()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937760" y="4636008"/>
            <a:ext cx="73152" cy="73152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74920" y="458114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349240" y="45811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Continúa la cadena o 401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Excepciones y HATEOAS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GlobalExceptionHandler + Links hipermedia en las respuestas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4572000" cy="2286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3272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GlobalExceptionHandler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860804" cy="201168"/>
          </a:xfrm>
          <a:prstGeom prst="roundRect">
            <a:avLst>
              <a:gd name="adj" fmla="val 22727"/>
            </a:avLst>
          </a:prstGeom>
          <a:solidFill>
            <a:srgbClr val="F87171">
              <a:alpha val="20000"/>
            </a:srgbClr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18608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7171"/>
                </a:solidFill>
              </a:rPr>
              <a:t>@RestControllerAdvice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457200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719072"/>
            <a:ext cx="4434840" cy="685800"/>
          </a:xfrm>
          <a:prstGeom prst="rect">
            <a:avLst/>
          </a:prstGeom>
          <a:solidFill>
            <a:srgbClr val="F87171">
              <a:alpha val="10000"/>
            </a:srgbClr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55648"/>
            <a:ext cx="4251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@ExceptionHandler(ResourceNotFoundException)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9659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404 NOT FOUND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4360" y="214884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 {timestamp, status, error, message}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496312"/>
            <a:ext cx="4434840" cy="685800"/>
          </a:xfrm>
          <a:prstGeom prst="rect">
            <a:avLst/>
          </a:prstGeom>
          <a:solidFill>
            <a:srgbClr val="FB923C">
              <a:alpha val="10000"/>
            </a:srgbClr>
          </a:solidFill>
          <a:ln w="6350">
            <a:solidFill>
              <a:srgbClr val="FB9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532888"/>
            <a:ext cx="4251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@ExceptionHandler(Exception (genérica))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7432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500 INTERNAL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 {timestamp, status, error, message}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457200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45643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ResourceNotFoundException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712464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RuntimeException  —  Lanzada por orElseThrow() cuando no se encuentra un recurso en el service (Establecimiento, Ubigeo)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12080" y="1005840"/>
            <a:ext cx="3474720" cy="3840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103327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HATEOAS — Links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03520" y="1371600"/>
            <a:ext cx="3726180" cy="201168"/>
          </a:xfrm>
          <a:prstGeom prst="roundRect">
            <a:avLst>
              <a:gd name="adj" fmla="val 22727"/>
            </a:avLst>
          </a:prstGeom>
          <a:solidFill>
            <a:srgbClr val="818CF8">
              <a:alpha val="20000"/>
            </a:srgbClr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1371600"/>
            <a:ext cx="37261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18CF8"/>
                </a:solidFill>
              </a:rPr>
              <a:t>Hypermedia As The Engine Of Application State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212080" y="1627632"/>
            <a:ext cx="347472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17190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/api/establecimientos/{id}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03520" y="2029968"/>
            <a:ext cx="640080" cy="219456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20299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self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989320" y="202996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/api/establecimientos/{id}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303520" y="2414016"/>
            <a:ext cx="640080" cy="219456"/>
          </a:xfrm>
          <a:prstGeom prst="rect">
            <a:avLst/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241401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</a:rPr>
              <a:t>todos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989320" y="241401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/api/establecimientos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303520" y="2798064"/>
            <a:ext cx="640080" cy="219456"/>
          </a:xfrm>
          <a:prstGeom prst="rect">
            <a:avLst/>
          </a:prstGeom>
          <a:solidFill>
            <a:srgbClr val="FB923C">
              <a:alpha val="2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0" y="27980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923C"/>
                </a:solidFill>
              </a:rPr>
              <a:t>mismo-tipo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989320" y="279806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/api/establecimientos?tipo=X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212080" y="3246120"/>
            <a:ext cx="347472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0" y="331012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/api/establecimientos (lista)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303520" y="3621024"/>
            <a:ext cx="914400" cy="219456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0" y="36210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self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263640" y="3621024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/api/establecimientos/{id}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303520" y="3986784"/>
            <a:ext cx="914400" cy="219456"/>
          </a:xfrm>
          <a:prstGeom prst="rect">
            <a:avLst/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0" y="39867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18CF8"/>
                </a:solidFill>
              </a:rPr>
              <a:t>busqueda-rapida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263640" y="3986784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/busqueda-rapida?nombre=X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303520" y="44622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 con PagedResourcesAssembler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WebMvcLinkBuilder.linkTo().methodOn()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REST - Escuela de Conductores</dc:title>
  <dc:subject>PptxGenJS Presentation</dc:subject>
  <dc:creator>PptxGenJS</dc:creator>
  <cp:lastModifiedBy>PptxGenJS</cp:lastModifiedBy>
  <cp:revision>1</cp:revision>
  <dcterms:created xsi:type="dcterms:W3CDTF">2026-04-18T16:32:10Z</dcterms:created>
  <dcterms:modified xsi:type="dcterms:W3CDTF">2026-04-18T16:32:10Z</dcterms:modified>
</cp:coreProperties>
</file>